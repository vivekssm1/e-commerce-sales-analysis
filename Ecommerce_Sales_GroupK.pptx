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80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65A82"/>
                </a:solidFill>
                <a:latin typeface="Arial"/>
              </a:defRPr>
            </a:pPr>
            <a:r>
              <a:rPr lang="en-GB" sz="1200" b="0" i="0" u="none" strike="noStrike">
                <a:solidFill>
                  <a:srgbClr val="065A82"/>
                </a:solidFill>
                <a:latin typeface="Arial"/>
              </a:rPr>
              <a:t>Monthly Revenue (£)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(£)</c:v>
                </c:pt>
              </c:strCache>
            </c:strRef>
          </c:tx>
          <c:spPr>
            <a:ln w="38100" cap="flat">
              <a:solidFill>
                <a:srgbClr val="02C39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45000</c:v>
                </c:pt>
                <c:pt idx="1">
                  <c:v>42000</c:v>
                </c:pt>
                <c:pt idx="2">
                  <c:v>51000</c:v>
                </c:pt>
                <c:pt idx="3">
                  <c:v>48000</c:v>
                </c:pt>
                <c:pt idx="4">
                  <c:v>53000</c:v>
                </c:pt>
                <c:pt idx="5">
                  <c:v>57000</c:v>
                </c:pt>
                <c:pt idx="6">
                  <c:v>61000</c:v>
                </c:pt>
                <c:pt idx="7">
                  <c:v>64000</c:v>
                </c:pt>
                <c:pt idx="8">
                  <c:v>72000</c:v>
                </c:pt>
                <c:pt idx="9">
                  <c:v>89000</c:v>
                </c:pt>
                <c:pt idx="10">
                  <c:v>95000</c:v>
                </c:pt>
                <c:pt idx="11">
                  <c:v>78000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D25-4498-81B0-809083C9CF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65A82"/>
                </a:solidFill>
                <a:latin typeface="Arial"/>
              </a:defRPr>
            </a:pPr>
            <a:r>
              <a:rPr lang="en-GB" sz="1200" b="0" i="0" u="none" strike="noStrike">
                <a:solidFill>
                  <a:srgbClr val="065A82"/>
                </a:solidFill>
                <a:latin typeface="Arial"/>
              </a:rPr>
              <a:t>Revenue by Country (£)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 (£)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Netherlands</c:v>
                </c:pt>
                <c:pt idx="1">
                  <c:v>EIRE</c:v>
                </c:pt>
                <c:pt idx="2">
                  <c:v>Germany</c:v>
                </c:pt>
                <c:pt idx="3">
                  <c:v>France</c:v>
                </c:pt>
                <c:pt idx="4">
                  <c:v>Australia</c:v>
                </c:pt>
                <c:pt idx="5">
                  <c:v>Spain</c:v>
                </c:pt>
                <c:pt idx="6">
                  <c:v>Switzerland</c:v>
                </c:pt>
                <c:pt idx="7">
                  <c:v>Belgium</c:v>
                </c:pt>
                <c:pt idx="8">
                  <c:v>Portugal</c:v>
                </c:pt>
                <c:pt idx="9">
                  <c:v>United Kingdom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285000</c:v>
                </c:pt>
                <c:pt idx="1">
                  <c:v>263000</c:v>
                </c:pt>
                <c:pt idx="2">
                  <c:v>221000</c:v>
                </c:pt>
                <c:pt idx="3">
                  <c:v>197000</c:v>
                </c:pt>
                <c:pt idx="4">
                  <c:v>138000</c:v>
                </c:pt>
                <c:pt idx="5">
                  <c:v>55000</c:v>
                </c:pt>
                <c:pt idx="6">
                  <c:v>55000</c:v>
                </c:pt>
                <c:pt idx="7">
                  <c:v>41000</c:v>
                </c:pt>
                <c:pt idx="8">
                  <c:v>33000</c:v>
                </c:pt>
                <c:pt idx="9">
                  <c:v>1200000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29-4073-8BF1-75FEEEC1BC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0F6F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2C39A"/>
                </a:solidFill>
                <a:latin typeface="Arial"/>
              </a:defRPr>
            </a:pPr>
            <a:r>
              <a:rPr lang="en-GB" sz="1200" b="0" i="0" u="none" strike="noStrike">
                <a:solidFill>
                  <a:srgbClr val="02C39A"/>
                </a:solidFill>
                <a:latin typeface="Arial"/>
              </a:rPr>
              <a:t>⭐ Top 5 Best Sellers (£)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(£)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Regency Cakestand</c:v>
                </c:pt>
                <c:pt idx="1">
                  <c:v>White Hanging Heart</c:v>
                </c:pt>
                <c:pt idx="2">
                  <c:v>Jumbo Bag Red Retrospot</c:v>
                </c:pt>
                <c:pt idx="3">
                  <c:v>Assorted Colour Bird</c:v>
                </c:pt>
                <c:pt idx="4">
                  <c:v>Party Bunting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163000</c:v>
                </c:pt>
                <c:pt idx="1">
                  <c:v>97000</c:v>
                </c:pt>
                <c:pt idx="2">
                  <c:v>92000</c:v>
                </c:pt>
                <c:pt idx="3">
                  <c:v>84000</c:v>
                </c:pt>
                <c:pt idx="4">
                  <c:v>71000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80-4E1C-8EA7-3E16A7E4013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96167"/>
                </a:solidFill>
                <a:latin typeface="Arial"/>
              </a:defRPr>
            </a:pPr>
            <a:r>
              <a:rPr lang="en-GB" sz="1200" b="0" i="0" u="none" strike="noStrike">
                <a:solidFill>
                  <a:srgbClr val="F96167"/>
                </a:solidFill>
                <a:latin typeface="Arial"/>
              </a:rPr>
              <a:t>❌ Worst Performing Products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(£)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Lost/Unknown</c:v>
                </c:pt>
                <c:pt idx="1">
                  <c:v>Sample Items</c:v>
                </c:pt>
                <c:pt idx="2">
                  <c:v>Damaged Stock</c:v>
                </c:pt>
                <c:pt idx="3">
                  <c:v>Manual Entry</c:v>
                </c:pt>
                <c:pt idx="4">
                  <c:v>Bad Debt Adj.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15</c:v>
                </c:pt>
                <c:pt idx="2">
                  <c:v>12</c:v>
                </c:pt>
                <c:pt idx="3">
                  <c:v>8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59-4B5E-A027-CDDBA0C9BC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65A82"/>
                </a:solidFill>
                <a:latin typeface="Arial"/>
              </a:defRPr>
            </a:pPr>
            <a:r>
              <a:rPr lang="en-GB" sz="1200" b="0" i="0" u="none" strike="noStrike">
                <a:solidFill>
                  <a:srgbClr val="065A82"/>
                </a:solidFill>
                <a:latin typeface="Arial"/>
              </a:rPr>
              <a:t>Orders by Spend Band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Orders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Under
£10</c:v>
                </c:pt>
                <c:pt idx="1">
                  <c:v>£10–£50</c:v>
                </c:pt>
                <c:pt idx="2">
                  <c:v>£50–£100</c:v>
                </c:pt>
                <c:pt idx="3">
                  <c:v>£100–£250</c:v>
                </c:pt>
                <c:pt idx="4">
                  <c:v>£250–£500</c:v>
                </c:pt>
                <c:pt idx="5">
                  <c:v>£500–£1k</c:v>
                </c:pt>
                <c:pt idx="6">
                  <c:v>£1k–£2k</c:v>
                </c:pt>
                <c:pt idx="7">
                  <c:v>Over
£2k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420</c:v>
                </c:pt>
                <c:pt idx="1">
                  <c:v>3800</c:v>
                </c:pt>
                <c:pt idx="2">
                  <c:v>2700</c:v>
                </c:pt>
                <c:pt idx="3">
                  <c:v>1900</c:v>
                </c:pt>
                <c:pt idx="4">
                  <c:v>850</c:v>
                </c:pt>
                <c:pt idx="5">
                  <c:v>310</c:v>
                </c:pt>
                <c:pt idx="6">
                  <c:v>90</c:v>
                </c:pt>
                <c:pt idx="7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38-4E65-8F71-E88669A2B3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0F6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8349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680960" y="822960"/>
            <a:ext cx="1554480" cy="1554480"/>
          </a:xfrm>
          <a:prstGeom prst="ellipse">
            <a:avLst/>
          </a:prstGeom>
          <a:solidFill>
            <a:srgbClr val="02C39A">
              <a:alpha val="2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2860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Galgotias University  ·  MCA — Data Science with 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48640" y="153619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Business Decisions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2212848"/>
            <a:ext cx="777240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3172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 ·  EDA  ·  Visualizations  ·  Insights  ·  Decisions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816352"/>
            <a:ext cx="1371600" cy="47548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81635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4107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Vivek kumar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7581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Vicky kumar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10565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Vivek Chaudhary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97680" y="34107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Aditya Tiwari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97680" y="375818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Saurabh Gupta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97680" y="410565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7365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using R  | 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What is This Project About?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137160" cy="10515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60120"/>
            <a:ext cx="8183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a dataset of an online shop — like Amazon or Flipkart — that recorded every order placed by customers. Our goal is to clean that data, explore it, and use what we find to help the business make smarter decisions.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2148840"/>
            <a:ext cx="2011680" cy="2697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148840"/>
            <a:ext cx="201168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" y="214884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Step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743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3127248"/>
            <a:ext cx="1828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messy, duplicate or missing data so it is ready to analyse.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50592" y="2148840"/>
            <a:ext cx="2011680" cy="2697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50592" y="2148840"/>
            <a:ext cx="201168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2514600" y="214884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Step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42032" y="2743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Data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42032" y="3127248"/>
            <a:ext cx="1828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patterns — who buys what, when, and from where.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26864" y="2148840"/>
            <a:ext cx="2011680" cy="2697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2148840"/>
            <a:ext cx="2011680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4690872" y="214884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Step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18304" y="2743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Charts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18304" y="3127248"/>
            <a:ext cx="1828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graphs so the patterns are easy to see and understand.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03136" y="2148840"/>
            <a:ext cx="2011680" cy="2697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03136" y="2148840"/>
            <a:ext cx="2011680" cy="502920"/>
          </a:xfrm>
          <a:prstGeom prst="rect">
            <a:avLst/>
          </a:prstGeom>
          <a:solidFill>
            <a:srgbClr val="F9C74F"/>
          </a:solidFill>
          <a:ln/>
        </p:spPr>
      </p:sp>
      <p:sp>
        <p:nvSpPr>
          <p:cNvPr id="24" name="Text 22"/>
          <p:cNvSpPr/>
          <p:nvPr/>
        </p:nvSpPr>
        <p:spPr>
          <a:xfrm>
            <a:off x="6867144" y="214884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Step 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94576" y="2743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Decisions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94576" y="3127248"/>
            <a:ext cx="1828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our findings to suggest smart actions for the business.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About the Dataset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this dataset as a big spreadsheet where every row is one product from one order.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4206240" cy="749808"/>
          </a:xfrm>
          <a:prstGeom prst="rect">
            <a:avLst/>
          </a:prstGeom>
          <a:solidFill>
            <a:srgbClr val="F0F6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151790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🧾  InvoiceNo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8105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 ID for each order. If it starts with 'C', it means the order was cancelled.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463040"/>
            <a:ext cx="4206240" cy="749808"/>
          </a:xfrm>
          <a:prstGeom prst="rect">
            <a:avLst/>
          </a:prstGeom>
          <a:solidFill>
            <a:srgbClr val="F0F6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18888" y="151790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StockCode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18888" y="18105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code for each product — like a product ID.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331720"/>
            <a:ext cx="4206240" cy="749808"/>
          </a:xfrm>
          <a:prstGeom prst="rect">
            <a:avLst/>
          </a:prstGeom>
          <a:solidFill>
            <a:srgbClr val="F0F6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" y="238658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Description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" y="26791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 of the product (e.g. 'White Hanging Heart').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2331720"/>
            <a:ext cx="4206240" cy="749808"/>
          </a:xfrm>
          <a:prstGeom prst="rect">
            <a:avLst/>
          </a:prstGeom>
          <a:solidFill>
            <a:srgbClr val="F0F6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18888" y="238658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Quantity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18888" y="26791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units were ordered. Negative numbers mean a return.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200400"/>
            <a:ext cx="4206240" cy="749808"/>
          </a:xfrm>
          <a:prstGeom prst="rect">
            <a:avLst/>
          </a:prstGeom>
          <a:solidFill>
            <a:srgbClr val="F0F6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84048" y="325526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InvoiceDate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" y="35478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date and time the order was placed.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3200400"/>
            <a:ext cx="4206240" cy="749808"/>
          </a:xfrm>
          <a:prstGeom prst="rect">
            <a:avLst/>
          </a:prstGeom>
          <a:solidFill>
            <a:srgbClr val="F0F6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18888" y="325526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💷  UnitPrice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18888" y="35478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price of one unit of the product in pounds (£).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4069080"/>
            <a:ext cx="4206240" cy="749808"/>
          </a:xfrm>
          <a:prstGeom prst="rect">
            <a:avLst/>
          </a:prstGeom>
          <a:solidFill>
            <a:srgbClr val="F0F6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84048" y="412394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CustomerID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4048" y="44165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 number for each customer. Some were missing.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4069080"/>
            <a:ext cx="4206240" cy="749808"/>
          </a:xfrm>
          <a:prstGeom prst="rect">
            <a:avLst/>
          </a:prstGeom>
          <a:solidFill>
            <a:srgbClr val="F0F6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18888" y="412394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Country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18888" y="44165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country where the customer lives.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 Step 1: Data Cleaning — Why &amp; What We Did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137160" cy="685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960120"/>
            <a:ext cx="8183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Why clean data?  Raw data is rarely perfect. It has errors, duplicates and missing values — just like a messy notebook. We fix it first so our analysis is accurate.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737360"/>
            <a:ext cx="2011680" cy="1188720"/>
          </a:xfrm>
          <a:prstGeom prst="rect">
            <a:avLst/>
          </a:prstGeom>
          <a:solidFill>
            <a:srgbClr val="F9616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73736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5,268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4320" y="239572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50592" y="1737360"/>
            <a:ext cx="2011680" cy="1188720"/>
          </a:xfrm>
          <a:prstGeom prst="rect">
            <a:avLst/>
          </a:prstGeom>
          <a:solidFill>
            <a:srgbClr val="1C729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50592" y="173736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50592" y="239572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Customer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Filled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26864" y="1737360"/>
            <a:ext cx="2011680" cy="1188720"/>
          </a:xfrm>
          <a:prstGeom prst="rect">
            <a:avLst/>
          </a:prstGeom>
          <a:solidFill>
            <a:srgbClr val="065A8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26864" y="173736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^C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26864" y="239572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Orders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03136" y="1737360"/>
            <a:ext cx="2011680" cy="1188720"/>
          </a:xfrm>
          <a:prstGeom prst="rect">
            <a:avLst/>
          </a:prstGeom>
          <a:solidFill>
            <a:srgbClr val="02C39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03136" y="173736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803136" y="239572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TotalAmount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Added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063240"/>
          <a:ext cx="8595360" cy="18288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Did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We Did It (in 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 &amp; removed duplicate rows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salesdata %&gt;% distinct()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5,268 duplicate rows gone 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Filled blank Customer IDs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salesdata$CustomerID[is.na(...)] &lt;- 'Unknown'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more blank customer names 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date &amp; type formats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mdy_hm() for date, as.character() for 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data types for R 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Removed cancelled/returns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filter(!grepl('^C', InvoiceNo), Quantity &gt; 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real sales kept 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 TotalAmount column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mutate(TotalAmount = Quantity * UnitPrice)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per row available 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Step 2: Exploring the Data (EDA)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658368"/>
          </a:xfrm>
          <a:prstGeom prst="rect">
            <a:avLst/>
          </a:prstGeom>
          <a:solidFill>
            <a:srgbClr val="F0F6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137160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9601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EDA = Exploratory Data Analysis. It simply means asking questions about the data and looking at the answers. We use R code to get summaries and counts.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737360"/>
            <a:ext cx="4206240" cy="960120"/>
          </a:xfrm>
          <a:prstGeom prst="rect">
            <a:avLst/>
          </a:prstGeom>
          <a:solidFill>
            <a:srgbClr val="F0F6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737360"/>
            <a:ext cx="457200" cy="9601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73736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4672" y="18013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unique customers do we have?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" y="219456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Counted with length(unique(CustomerID))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1737360"/>
            <a:ext cx="4206240" cy="960120"/>
          </a:xfrm>
          <a:prstGeom prst="rect">
            <a:avLst/>
          </a:prstGeom>
          <a:solidFill>
            <a:srgbClr val="F0F6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737360"/>
            <a:ext cx="457200" cy="9601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173736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39512" y="18013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different products are sold?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39512" y="219456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Counted with length(unique(StockCode))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816352"/>
            <a:ext cx="4206240" cy="960120"/>
          </a:xfrm>
          <a:prstGeom prst="rect">
            <a:avLst/>
          </a:prstGeom>
          <a:solidFill>
            <a:srgbClr val="F0F6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816352"/>
            <a:ext cx="457200" cy="9601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2816352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04672" y="2880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countries order the most?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4672" y="327355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Grouped &amp; counted: count(Country, sort=TRUE)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2816352"/>
            <a:ext cx="4206240" cy="960120"/>
          </a:xfrm>
          <a:prstGeom prst="rect">
            <a:avLst/>
          </a:prstGeom>
          <a:solidFill>
            <a:srgbClr val="F0F6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816352"/>
            <a:ext cx="457200" cy="9601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4709160" y="2816352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239512" y="2880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cheapest &amp; most expensive items?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39512" y="327355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Sorted by UnitPrice using arrange()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3895344"/>
            <a:ext cx="4206240" cy="960120"/>
          </a:xfrm>
          <a:prstGeom prst="rect">
            <a:avLst/>
          </a:prstGeom>
          <a:solidFill>
            <a:srgbClr val="F0F6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895344"/>
            <a:ext cx="457200" cy="9601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3895344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🧮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04672" y="39593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average order value?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4672" y="435254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Grouped by InvoiceNo, summed TotalAmount, took mean()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09160" y="3895344"/>
            <a:ext cx="4206240" cy="960120"/>
          </a:xfrm>
          <a:prstGeom prst="rect">
            <a:avLst/>
          </a:prstGeom>
          <a:solidFill>
            <a:srgbClr val="F0F6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3895344"/>
            <a:ext cx="457200" cy="9601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4" name="Text 32"/>
          <p:cNvSpPr/>
          <p:nvPr/>
        </p:nvSpPr>
        <p:spPr>
          <a:xfrm>
            <a:off x="4709160" y="3895344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239512" y="39593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months have the most orders?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239512" y="435254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Extracted month from date, counted transactions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Chart 1: Revenue Trend Over Time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This line chart shows how much money the shop earned each month. Going UP means more sales; going DOWN means fewer sales.</a:t>
            </a:r>
            <a:endParaRPr lang="en-US" sz="12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481328"/>
          <a:ext cx="54864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989320" y="1481328"/>
            <a:ext cx="28803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989320" y="1481328"/>
            <a:ext cx="109728" cy="749808"/>
          </a:xfrm>
          <a:prstGeom prst="rect">
            <a:avLst/>
          </a:prstGeom>
          <a:solidFill>
            <a:srgbClr val="F9C74F"/>
          </a:solidFill>
          <a:ln/>
        </p:spPr>
      </p:sp>
      <p:sp>
        <p:nvSpPr>
          <p:cNvPr id="9" name="Text 6"/>
          <p:cNvSpPr/>
          <p:nvPr/>
        </p:nvSpPr>
        <p:spPr>
          <a:xfrm>
            <a:off x="6190488" y="152704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Best Month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190488" y="1755648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190488" y="1984248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sales — holiday shopping!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989320" y="2331720"/>
            <a:ext cx="28803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989320" y="2331720"/>
            <a:ext cx="109728" cy="74980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4" name="Text 11"/>
          <p:cNvSpPr/>
          <p:nvPr/>
        </p:nvSpPr>
        <p:spPr>
          <a:xfrm>
            <a:off x="6190488" y="237744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Slowest Months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190488" y="2606040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&amp; Feb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190488" y="2834640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holidays, people buy less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989320" y="3182112"/>
            <a:ext cx="28803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989320" y="3182112"/>
            <a:ext cx="109728" cy="7498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9" name="Text 16"/>
          <p:cNvSpPr/>
          <p:nvPr/>
        </p:nvSpPr>
        <p:spPr>
          <a:xfrm>
            <a:off x="6190488" y="322783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Growth Period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190488" y="3456432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→ Nov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190488" y="3685032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rise sharply before year-end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989320" y="4032504"/>
            <a:ext cx="28803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989320" y="4032504"/>
            <a:ext cx="109728" cy="7498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Text 21"/>
          <p:cNvSpPr/>
          <p:nvPr/>
        </p:nvSpPr>
        <p:spPr>
          <a:xfrm>
            <a:off x="6190488" y="407822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Lesson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190488" y="4306824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Early!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190488" y="4535424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up in Aug before peak season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Chart 2: Which Countries Buy the Most?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475488"/>
          </a:xfrm>
          <a:prstGeom prst="rect">
            <a:avLst/>
          </a:prstGeom>
          <a:solidFill>
            <a:srgbClr val="F0F6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This bar chart compares total sales from the top 10 countries. The longer the bar, the more that country spent.</a:t>
            </a:r>
            <a:endParaRPr lang="en-US" sz="12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481328"/>
          <a:ext cx="539496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897880" y="1481328"/>
            <a:ext cx="2971800" cy="3383280"/>
          </a:xfrm>
          <a:prstGeom prst="rect">
            <a:avLst/>
          </a:prstGeom>
          <a:solidFill>
            <a:srgbClr val="F0F6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97880" y="1481328"/>
            <a:ext cx="2971800" cy="43891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5989320" y="1481328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Tells Us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016752" y="20116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🇬🇧 UK is #1 by far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016752" y="2267712"/>
            <a:ext cx="2743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shop is based in the UK, so most customers are local. This is expected.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016752" y="27614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🇳🇱 Netherlands is #2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016752" y="3017520"/>
            <a:ext cx="2743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European demand. A great market to grow in.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016752" y="35112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🇩🇪 Germany &amp; France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016752" y="3767328"/>
            <a:ext cx="2743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show solid sales — good targets for future marketing.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016752" y="4261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Over-reliance on UK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016752" y="4517136"/>
            <a:ext cx="2743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UK sales drop, the business suffers. Expanding internationally reduces this risk.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Chart 3: Best &amp; Worst Selling Products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We ranked all products by how much revenue they generated. Green bars = star products. Red bars = products that barely sell.</a:t>
            </a:r>
            <a:endParaRPr lang="en-US" sz="12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508760"/>
          <a:ext cx="411480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4754880" y="1508760"/>
          <a:ext cx="411480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663440"/>
            <a:ext cx="859536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5"/>
          <p:cNvSpPr/>
          <p:nvPr/>
        </p:nvSpPr>
        <p:spPr>
          <a:xfrm>
            <a:off x="411480" y="4663440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Decision: Order more of the top sellers before October. Stop wasting shelf space on products that don't sell.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Chart 4: How Much Do Customers Spend Per Order?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502920"/>
          </a:xfrm>
          <a:prstGeom prst="rect">
            <a:avLst/>
          </a:prstGeom>
          <a:solidFill>
            <a:srgbClr val="F0F6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This histogram shows order values grouped into bands. The taller the bar, the more orders fall in that price range. Most customers spend small amounts per order.</a:t>
            </a:r>
            <a:endParaRPr lang="en-US" sz="12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508760"/>
          <a:ext cx="530352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806440" y="1508760"/>
            <a:ext cx="3063240" cy="3337560"/>
          </a:xfrm>
          <a:prstGeom prst="rect">
            <a:avLst/>
          </a:prstGeom>
          <a:solidFill>
            <a:srgbClr val="F0F6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06440" y="1508760"/>
            <a:ext cx="3063240" cy="43891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5897880" y="150876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Mean?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16168" y="20391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Most orders are small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916168" y="2313432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bar is £10–£50. Most people make small purchases.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16168" y="27889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💎 Some big buyers exist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916168" y="306324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orders are over £500 — these are likely businesses buying in bulk.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916168" y="35387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Sweet spot: £10–£100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916168" y="381304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revenue comes from this range. Focus promotions here.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916168" y="42885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Upsell opportunity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916168" y="4562856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Nudging £10 buyers to spend £50 could significantly boost revenue.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Business Decisions — What Should the Shop Do?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our data analysis, here are 6 clear actions the business should take: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4206240" cy="1170432"/>
          </a:xfrm>
          <a:prstGeom prst="rect">
            <a:avLst/>
          </a:prstGeom>
          <a:solidFill>
            <a:srgbClr val="0F223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98448"/>
            <a:ext cx="530352" cy="11704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298448"/>
            <a:ext cx="5303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1389888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Stock Up Before October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96112" y="1700784"/>
            <a:ext cx="34930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spikes in Oct–Nov. Order extra inventory of top products in August so you don't run out during peak season.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298448"/>
            <a:ext cx="4206240" cy="1170432"/>
          </a:xfrm>
          <a:prstGeom prst="rect">
            <a:avLst/>
          </a:prstGeom>
          <a:solidFill>
            <a:srgbClr val="0F223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298448"/>
            <a:ext cx="530352" cy="1170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1298448"/>
            <a:ext cx="5303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330952" y="1389888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Expand to Europe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330952" y="1700784"/>
            <a:ext cx="34930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Netherlands, Germany &amp; France already buy from this shop. Run targeted ads there to grow those markets.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560320"/>
            <a:ext cx="4206240" cy="1170432"/>
          </a:xfrm>
          <a:prstGeom prst="rect">
            <a:avLst/>
          </a:prstGeom>
          <a:solidFill>
            <a:srgbClr val="0F223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560320"/>
            <a:ext cx="530352" cy="117043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2560320"/>
            <a:ext cx="5303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96112" y="2651760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 Cut Worst Products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96112" y="2962656"/>
            <a:ext cx="34930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with near-zero sales waste storage space and money. Remove or replace them with better options.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2560320"/>
            <a:ext cx="4206240" cy="1170432"/>
          </a:xfrm>
          <a:prstGeom prst="rect">
            <a:avLst/>
          </a:prstGeom>
          <a:solidFill>
            <a:srgbClr val="0F223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560320"/>
            <a:ext cx="530352" cy="1170432"/>
          </a:xfrm>
          <a:prstGeom prst="rect">
            <a:avLst/>
          </a:prstGeom>
          <a:solidFill>
            <a:srgbClr val="F9C74F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2560320"/>
            <a:ext cx="5303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330952" y="2651760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 Bundle Products to Increase Spend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330952" y="2962656"/>
            <a:ext cx="34930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product bundles to move customers from the £10–£50 band up to £50–£100. Small nudge, big impact.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822192"/>
            <a:ext cx="4206240" cy="1170432"/>
          </a:xfrm>
          <a:prstGeom prst="rect">
            <a:avLst/>
          </a:prstGeom>
          <a:solidFill>
            <a:srgbClr val="0F223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822192"/>
            <a:ext cx="530352" cy="117043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3822192"/>
            <a:ext cx="5303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96112" y="3913632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Create a Wholesale Programme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96112" y="4224528"/>
            <a:ext cx="34930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orders suggest business buyers. Offer them special bulk pricing and a dedicated account manager.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3822192"/>
            <a:ext cx="4206240" cy="1170432"/>
          </a:xfrm>
          <a:prstGeom prst="rect">
            <a:avLst/>
          </a:prstGeom>
          <a:solidFill>
            <a:srgbClr val="0F223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822192"/>
            <a:ext cx="530352" cy="1170432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32" name="Text 30"/>
          <p:cNvSpPr/>
          <p:nvPr/>
        </p:nvSpPr>
        <p:spPr>
          <a:xfrm>
            <a:off x="4709160" y="3822192"/>
            <a:ext cx="5303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5330952" y="3913632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📣 Launch Pre-Season Promotions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330952" y="4224528"/>
            <a:ext cx="34930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email &amp; social campaigns in August–September to warm up customers before the November peak.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365760"/>
            <a:ext cx="2743200" cy="274320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What We Learned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777240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Analysis  ·  Group K  ·  Galgotias University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 We cleaned the data — removed 5,268 duplicate rows, fixed dates and filtered out cancelled orders.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We explored the data — found which products, countries and months drive the most sales.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We made 4 charts — a line chart, bar charts and a histogram to visualise our findings clearly.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We made 6 business decisions — stock management, market expansion, product cuts, upselling and more.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Key Takeaway: Data analysis turns raw numbers into smart business decisions!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389120"/>
            <a:ext cx="7772400" cy="502920"/>
          </a:xfrm>
          <a:prstGeom prst="rect">
            <a:avLst/>
          </a:prstGeom>
          <a:solidFill>
            <a:srgbClr val="0F223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3891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 |  Group K — Vivek · Aditya · Vicky · Saurabh · Vivek  |  MCA, Galgotias University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365760"/>
            <a:ext cx="2560320" cy="256032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731520"/>
            <a:ext cx="1463040" cy="1463040"/>
          </a:xfrm>
          <a:prstGeom prst="ellipse">
            <a:avLst/>
          </a:prstGeom>
          <a:solidFill>
            <a:srgbClr val="02C39A">
              <a:alpha val="2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5603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Galgotias University  ·  MCA — Data Science with 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 — Group K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548640" y="1389888"/>
            <a:ext cx="777240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572768"/>
            <a:ext cx="2651760" cy="1234440"/>
          </a:xfrm>
          <a:prstGeom prst="rect">
            <a:avLst/>
          </a:prstGeom>
          <a:solidFill>
            <a:srgbClr val="0F223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572768"/>
            <a:ext cx="265176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773936"/>
            <a:ext cx="438912" cy="43891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7739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15568" y="1773936"/>
            <a:ext cx="17885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Vivek kumar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15568" y="212140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91840" y="1572768"/>
            <a:ext cx="2651760" cy="1234440"/>
          </a:xfrm>
          <a:prstGeom prst="rect">
            <a:avLst/>
          </a:prstGeom>
          <a:solidFill>
            <a:srgbClr val="0F223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15" name="Shape 13"/>
          <p:cNvSpPr/>
          <p:nvPr/>
        </p:nvSpPr>
        <p:spPr>
          <a:xfrm>
            <a:off x="3291840" y="1572768"/>
            <a:ext cx="265176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3429000" y="1773936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17739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50208" y="177393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50208" y="212140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26480" y="1572768"/>
            <a:ext cx="2651760" cy="1234440"/>
          </a:xfrm>
          <a:prstGeom prst="rect">
            <a:avLst/>
          </a:prstGeom>
          <a:solidFill>
            <a:srgbClr val="0F223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21" name="Shape 19"/>
          <p:cNvSpPr/>
          <p:nvPr/>
        </p:nvSpPr>
        <p:spPr>
          <a:xfrm>
            <a:off x="6126480" y="1572768"/>
            <a:ext cx="265176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Shape 20"/>
          <p:cNvSpPr/>
          <p:nvPr/>
        </p:nvSpPr>
        <p:spPr>
          <a:xfrm>
            <a:off x="6263640" y="1773936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17739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84848" y="1773936"/>
            <a:ext cx="17885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Vicky kumar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84848" y="212140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2990088"/>
            <a:ext cx="2651760" cy="1234440"/>
          </a:xfrm>
          <a:prstGeom prst="rect">
            <a:avLst/>
          </a:prstGeom>
          <a:solidFill>
            <a:srgbClr val="0F223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2990088"/>
            <a:ext cx="265176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" y="3191256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31912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15568" y="319125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Saurabh Gupta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15568" y="353872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91840" y="2990088"/>
            <a:ext cx="2651760" cy="1234440"/>
          </a:xfrm>
          <a:prstGeom prst="rect">
            <a:avLst/>
          </a:prstGeom>
          <a:solidFill>
            <a:srgbClr val="0F223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91840" y="2990088"/>
            <a:ext cx="265176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4" name="Shape 32"/>
          <p:cNvSpPr/>
          <p:nvPr/>
        </p:nvSpPr>
        <p:spPr>
          <a:xfrm>
            <a:off x="3429000" y="3191256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5" name="Text 33"/>
          <p:cNvSpPr/>
          <p:nvPr/>
        </p:nvSpPr>
        <p:spPr>
          <a:xfrm>
            <a:off x="3429000" y="31912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950208" y="319125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Vivek Chaudhary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950208" y="353872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784848" y="319125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48640" y="4736592"/>
            <a:ext cx="7772400" cy="256032"/>
          </a:xfrm>
          <a:prstGeom prst="rect">
            <a:avLst/>
          </a:prstGeom>
          <a:solidFill>
            <a:srgbClr val="0F2233"/>
          </a:solidFill>
          <a:ln/>
        </p:spPr>
      </p:sp>
      <p:sp>
        <p:nvSpPr>
          <p:cNvPr id="45" name="Text 43"/>
          <p:cNvSpPr/>
          <p:nvPr/>
        </p:nvSpPr>
        <p:spPr>
          <a:xfrm>
            <a:off x="548640" y="47365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Analysis Project  ·  May 2026</a:t>
            </a:r>
            <a:endParaRPr lang="en-US" sz="95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47AC344-748A-9413-3F34-C9E7929D289F}"/>
              </a:ext>
            </a:extLst>
          </p:cNvPr>
          <p:cNvSpPr/>
          <p:nvPr/>
        </p:nvSpPr>
        <p:spPr>
          <a:xfrm>
            <a:off x="3856984" y="1787550"/>
            <a:ext cx="1430038" cy="3154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Tiwari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1392</Words>
  <Application>Microsoft Office PowerPoint</Application>
  <PresentationFormat>On-screen Show (16:9)</PresentationFormat>
  <Paragraphs>198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Sales Analysis</dc:title>
  <dc:subject>PptxGenJS Presentation</dc:subject>
  <dc:creator>PptxGenJS</dc:creator>
  <cp:lastModifiedBy>Vi-vek Kumar</cp:lastModifiedBy>
  <cp:revision>3</cp:revision>
  <dcterms:created xsi:type="dcterms:W3CDTF">2026-05-16T03:33:16Z</dcterms:created>
  <dcterms:modified xsi:type="dcterms:W3CDTF">2026-05-18T19:50:40Z</dcterms:modified>
</cp:coreProperties>
</file>